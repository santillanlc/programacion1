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914400"/>
            <a:ext cx="4754880" cy="475488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274320"/>
            <a:ext cx="3291840" cy="3291840"/>
          </a:xfrm>
          <a:prstGeom prst="ellipse">
            <a:avLst/>
          </a:prstGeom>
          <a:solidFill>
            <a:srgbClr val="E1306C">
              <a:alpha val="12000"/>
            </a:srgbClr>
          </a:solidFill>
          <a:ln w="12700">
            <a:solidFill>
              <a:srgbClr val="E1306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2011680" cy="201168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3152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31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PRÁCTICA MYSQL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SocialDB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para Red Social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3657600" cy="36576"/>
          </a:xfrm>
          <a:prstGeom prst="rect">
            <a:avLst/>
          </a:prstGeom>
          <a:solidFill>
            <a:srgbClr val="A0A0BC">
              <a:alpha val="50000"/>
            </a:srgbClr>
          </a:solidFill>
          <a:ln w="12700">
            <a:solidFill>
              <a:srgbClr val="A0A0B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4436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 relacional con relaciones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muchos y muchos a muchos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2423160" cy="502920"/>
          </a:xfrm>
          <a:prstGeom prst="rect">
            <a:avLst/>
          </a:prstGeom>
          <a:solidFill>
            <a:srgbClr val="141428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01  Tiempo 1: Tablas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3913632"/>
            <a:ext cx="2423160" cy="502920"/>
          </a:xfrm>
          <a:prstGeom prst="rect">
            <a:avLst/>
          </a:prstGeom>
          <a:solidFill>
            <a:srgbClr val="141428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02  Tiempo 2: Datos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15584" y="3913632"/>
            <a:ext cx="2423160" cy="502920"/>
          </a:xfrm>
          <a:prstGeom prst="rect">
            <a:avLst/>
          </a:prstGeom>
          <a:solidFill>
            <a:srgbClr val="141428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5584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03  Tiempo 3: Consultas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Escenario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modelar?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41428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startup quiere desarrollar una red social (similar a Instagram o X/Twitter). Necesitan una base de datos que gestione usuarios, publicaciones, comentarios, hashtags y relaciones de seguimiento entre usuarios.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96596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688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Usuarios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la red social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2286000"/>
            <a:ext cx="196596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2286000"/>
            <a:ext cx="196596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4688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Publicaciones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56032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con texto e imágenes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2286000"/>
            <a:ext cx="196596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2286000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4688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Hashtags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0916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por publicación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2286000"/>
            <a:ext cx="196596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2286000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46888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Seguidores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usuarios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1  —  Estructura de Tablas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Relaciones entre entidades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664208" cy="1572768"/>
          </a:xfrm>
          <a:prstGeom prst="rect">
            <a:avLst/>
          </a:prstGeom>
          <a:solidFill>
            <a:srgbClr val="141428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16642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usuarios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127101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usuario_id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05840" y="1271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PK AUTO_INCREMENT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2880" y="1499616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1790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username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5840" y="15179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VARCHAR(50) UNIQUE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6032" y="176479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email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05840" y="176479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VARCHAR(100) UNIQUE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2880" y="1993392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01168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bio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201168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VARCHAR(200)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6032" y="225856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fecha_reg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5840" y="225856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DATE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920240" y="960120"/>
            <a:ext cx="1664208" cy="1819656"/>
          </a:xfrm>
          <a:prstGeom prst="rect">
            <a:avLst/>
          </a:prstGeom>
          <a:solidFill>
            <a:srgbClr val="141428"/>
          </a:solidFill>
          <a:ln w="1905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20240" y="960120"/>
            <a:ext cx="1664208" cy="29260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publicaciones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93392" y="127101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pub_id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0" y="1271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PK AUTO_INCREMENT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1499616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151790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usuario_id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15179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FK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93392" y="176479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contenido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0" y="176479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TEXT NOT NULL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920240" y="1993392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201168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imagen_url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201168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VARCHAR(255)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93392" y="225856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fecha_pub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0" y="225856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DATETIME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920240" y="2487168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3392" y="250545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likes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743200" y="250545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DEFAULT 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0" y="960120"/>
            <a:ext cx="1664208" cy="1572768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0" y="960120"/>
            <a:ext cx="1664208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comentarios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30752" y="127101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comentario_id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480560" y="1271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PK AUTO_INCREMENT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657600" y="1499616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0752" y="151790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pub_id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480560" y="15179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FK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30752" y="176479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usuario_id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480560" y="176479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FK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0" y="1993392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0752" y="201168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texto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480560" y="201168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VARCHAR(300) NOT NULL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730752" y="225856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fecha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80560" y="225856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DATETIME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82880" y="2926080"/>
            <a:ext cx="1664208" cy="1078992"/>
          </a:xfrm>
          <a:prstGeom prst="rect">
            <a:avLst/>
          </a:prstGeom>
          <a:solidFill>
            <a:srgbClr val="1414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82880" y="2926080"/>
            <a:ext cx="166420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29260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hashtags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56032" y="323697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hashtag_id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05840" y="323697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PK AUTO_INCREMENT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82880" y="3465576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348386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etiqueta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05840" y="348386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VARCHAR(60) UNIQUE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56032" y="373075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creado_en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05840" y="3730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DATE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920240" y="2926080"/>
            <a:ext cx="1664208" cy="1325880"/>
          </a:xfrm>
          <a:prstGeom prst="rect">
            <a:avLst/>
          </a:prstGeom>
          <a:solidFill>
            <a:srgbClr val="141428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20240" y="2926080"/>
            <a:ext cx="1664208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93392" y="29260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seguidores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993392" y="323697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seguidor_id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743200" y="323697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FK (usuarios)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920240" y="3465576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93392" y="348386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seguido_id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743200" y="348386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INT FK (usuarios)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993392" y="373075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fecha_follow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743200" y="3730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DATE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920240" y="3959352"/>
            <a:ext cx="1664208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93392" y="397764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PRIMARY KEY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743200" y="397764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BC"/>
                </a:solidFill>
              </a:rPr>
              <a:t>(seguidor_id, seguido_id)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532120" y="960120"/>
            <a:ext cx="3429000" cy="3840480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532120" y="960120"/>
            <a:ext cx="3429000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05272" y="960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</a:rPr>
              <a:t>Tablas Pivote (Muchos a Muchos)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pub_hashtags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15000" y="1627632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pub_id       INT FK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715000" y="1819656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hashtag_id   INT FK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715000" y="2011680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(pub_id, hashtag_id)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623560" y="2249424"/>
            <a:ext cx="3200400" cy="18288"/>
          </a:xfrm>
          <a:prstGeom prst="rect">
            <a:avLst/>
          </a:prstGeom>
          <a:solidFill>
            <a:srgbClr val="A0A0BC">
              <a:alpha val="40000"/>
            </a:srgbClr>
          </a:solidFill>
          <a:ln w="12700">
            <a:solidFill>
              <a:srgbClr val="A0A0BC">
                <a:alpha val="4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23560" y="2295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publicación tiene varios hashtags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hashtag aparece en varias publicaciones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623560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pub_likes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715000" y="3172968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pub_id       INT FK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715000" y="3364992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   INT FK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715000" y="3557016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fecha_like   DATETIME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715000" y="3749040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(pub_id, usuario_id)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623560" y="3986784"/>
            <a:ext cx="3200400" cy="18288"/>
          </a:xfrm>
          <a:prstGeom prst="rect">
            <a:avLst/>
          </a:prstGeom>
          <a:solidFill>
            <a:srgbClr val="A0A0BC">
              <a:alpha val="40000"/>
            </a:srgbClr>
          </a:solidFill>
          <a:ln w="12700">
            <a:solidFill>
              <a:srgbClr val="A0A0BC">
                <a:alpha val="4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23560" y="4032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puede dar like a varios posts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 puede recibir likes de varios usuarios</a:t>
            </a:r>
            <a:endParaRPr lang="en-US" sz="850" dirty="0"/>
          </a:p>
        </p:txBody>
      </p:sp>
      <p:pic>
        <p:nvPicPr>
          <p:cNvPr id="9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752" y="3063240"/>
            <a:ext cx="201168" cy="201168"/>
          </a:xfrm>
          <a:prstGeom prst="rect">
            <a:avLst/>
          </a:prstGeom>
        </p:spPr>
      </p:pic>
      <p:sp>
        <p:nvSpPr>
          <p:cNvPr id="94" name="Text 91"/>
          <p:cNvSpPr/>
          <p:nvPr/>
        </p:nvSpPr>
        <p:spPr>
          <a:xfrm>
            <a:off x="3950208" y="3035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1 a muchos: usuarios → publicaciones</a:t>
            </a:r>
            <a:endParaRPr lang="en-US" sz="750" dirty="0"/>
          </a:p>
        </p:txBody>
      </p:sp>
      <p:pic>
        <p:nvPicPr>
          <p:cNvPr id="9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337560"/>
            <a:ext cx="201168" cy="201168"/>
          </a:xfrm>
          <a:prstGeom prst="rect">
            <a:avLst/>
          </a:prstGeom>
        </p:spPr>
      </p:pic>
      <p:sp>
        <p:nvSpPr>
          <p:cNvPr id="96" name="Text 92"/>
          <p:cNvSpPr/>
          <p:nvPr/>
        </p:nvSpPr>
        <p:spPr>
          <a:xfrm>
            <a:off x="3950208" y="3310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M a M: via tablas pivote</a:t>
            </a:r>
            <a:endParaRPr lang="en-US" sz="750" dirty="0"/>
          </a:p>
        </p:txBody>
      </p:sp>
      <p:sp>
        <p:nvSpPr>
          <p:cNvPr id="97" name="Shape 93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1  —  Creación de Tablas (CREATE TABLE)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60520" cy="1659636"/>
          </a:xfrm>
          <a:prstGeom prst="rect">
            <a:avLst/>
          </a:prstGeom>
          <a:solidFill>
            <a:srgbClr val="141428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49808"/>
            <a:ext cx="416052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</a:rPr>
              <a:t>Tabla: usuarios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3931920" cy="133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usuarios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usuario_id INT AUTO_INCREMENT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   VARCHAR(50)  UNIQUE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VARCHAR(100) UNIQUE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bio        VARCHAR(200),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fecha_reg  DATE DEFAULT (CURRENT_DATE)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546604"/>
            <a:ext cx="4160520" cy="2194560"/>
          </a:xfrm>
          <a:prstGeom prst="rect">
            <a:avLst/>
          </a:prstGeom>
          <a:solidFill>
            <a:srgbClr val="141428"/>
          </a:solidFill>
          <a:ln w="1905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46604"/>
            <a:ext cx="4160520" cy="27432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66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</a:rPr>
              <a:t>Tabla: publicaciones  (FK → usuarios)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839212"/>
            <a:ext cx="39319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publicaciones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pub_id      INT AUTO_INCREMENT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usuario_id  INT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contenido   TEXT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imagen_url  VARCHAR(255),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fecha_pub   DATETIME DEFAULT NOW(),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likes       INT DEFAULT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(usuario_id)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usuarios(usuario_id)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160520" cy="2372868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749808"/>
            <a:ext cx="416052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49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</a:rPr>
              <a:t>Tabla: comentarios  (FK → usuarios y publicaciones)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1042416"/>
            <a:ext cx="3931920" cy="204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comentarios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comentario_id INT AUTO_INCREMENT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pub_id        INT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usuario_id    INT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texto         VARCHAR(300)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         DATETIME DEFAULT NOW(),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(pub_id)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publicaciones(pub_id),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(usuario_id)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usuarios(usuario_id)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3259836"/>
            <a:ext cx="4160520" cy="2372868"/>
          </a:xfrm>
          <a:prstGeom prst="rect">
            <a:avLst/>
          </a:prstGeom>
          <a:solidFill>
            <a:srgbClr val="1414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59836"/>
            <a:ext cx="416052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598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</a:rPr>
              <a:t>Tablas: hashtags + pub_hashtags (muchos a muchos)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8888" y="3552444"/>
            <a:ext cx="3931920" cy="204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hashtags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hashtag_id INT AUTO_INCREMENT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etiqueta   VARCHAR(60) UNIQUE NOT NULL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pub_hashtags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pub_id     INT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hashtag_id INT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(pub_id, hashtag_id),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(pub_id)   REFERENCES publicaciones(pub_id),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(hashtag_id) REFERENCES hashtags(hashtag_id)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</a:rPr>
              <a:t>T2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2  —  Inserción de Datos (INSERT INTO)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06240" cy="1426464"/>
          </a:xfrm>
          <a:prstGeom prst="rect">
            <a:avLst/>
          </a:prstGeom>
          <a:solidFill>
            <a:srgbClr val="141428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49808"/>
            <a:ext cx="420624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INSERT: usuarios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usuarios (username, email, bio) 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('ana_mtz',   'ana@mail.com',   'Fotógrafa 📷'),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('luis_dev',  'luis@mail.com',  'Dev &amp; café ☕'),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('sara_code', 'sara@mail.com',  'Amante del código'),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('pedro_mx',  'pedro@mail.com', 'Viajero 🌍'),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('mia_art',   'mia@mail.com',   'Ilustradora digital');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06240" cy="1426464"/>
          </a:xfrm>
          <a:prstGeom prst="rect">
            <a:avLst/>
          </a:prstGeom>
          <a:solidFill>
            <a:srgbClr val="141428"/>
          </a:solidFill>
          <a:ln w="1905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49808"/>
            <a:ext cx="4206240" cy="27432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49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INSERT: publicaciones  (FK → usuarios)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042416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publicaciones (usuario_id, contenido) 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'Atardecer en Mazatlán 🌅 #foto'),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'Nuevo proyecto en React listo 🚀'),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'Mi setup de trabajo favorito 💻'),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'Explorando la zona histórica #viaje'),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'Tips para viajar barato ✈️');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4206240" cy="2002536"/>
          </a:xfrm>
          <a:prstGeom prst="rect">
            <a:avLst/>
          </a:prstGeom>
          <a:solidFill>
            <a:srgbClr val="1414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51760"/>
            <a:ext cx="42062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INSERT: hashtags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944368"/>
            <a:ext cx="40233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hashtags (etiqueta) 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('foto'), ('viaje'), ('tecnologia'),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('arte'), ('codigo'), ('mazatlan');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Tabla pivote pub_hashtags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pub_hashtags (pub_id, hashtag_id) 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1), (1, 6),  -- foto, mazatlan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3), (2, 5),  -- tecnologia, codigo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2), (4, 6);  -- viaje, mazatlan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206240" cy="1426464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51760"/>
            <a:ext cx="420624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A"/>
                </a:solidFill>
              </a:rPr>
              <a:t>INSERT: comentarios  (FK → usuarios y publicaciones)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comentarios (pub_id, usuario_id, texto) 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'Qué foto tan bonita! 😍'),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3, 'Mazatlán siempre hermoso'),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4, 'Felicidades por el lanzamiento!'),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1, 'Me encanta ese setup 🔥'),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 2, 'Muy buenos tips, gracias!');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616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</a:rPr>
              <a:t>💡 Recuerda respetar el orden: primero usuarios y hashtags, luego publicaciones, finalmente comentarios y tablas pivote.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3  —  Consultas SQL (SELECT)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160520" cy="1010412"/>
          </a:xfrm>
          <a:prstGeom prst="rect">
            <a:avLst/>
          </a:prstGeom>
          <a:solidFill>
            <a:srgbClr val="1414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502920" cy="10104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13232"/>
            <a:ext cx="50292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1A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713232"/>
            <a:ext cx="914400" cy="256032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7132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</a:rPr>
              <a:t>BÁSICA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969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</a:rPr>
              <a:t>Listar todos los usuarios con su fecha de registro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5528" y="1207008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username, email, bio, fecha_reg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usuarios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fecha_reg DESC;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833372"/>
            <a:ext cx="4160520" cy="1348740"/>
          </a:xfrm>
          <a:prstGeom prst="rect">
            <a:avLst/>
          </a:prstGeom>
          <a:solidFill>
            <a:srgbClr val="1414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833372"/>
            <a:ext cx="502920" cy="13487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3372"/>
            <a:ext cx="5029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1A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1833372"/>
            <a:ext cx="914400" cy="256032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8333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</a:rPr>
              <a:t>BÁSICA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5528" y="20894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</a:rPr>
              <a:t>Ver publicaciones con el nombre del autor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5528" y="2327148"/>
            <a:ext cx="352044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u.username, p.contenido,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p.fecha_pub, p.likes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publicaciones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usuarios u ON p.usuario_id = u.usuario_id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p.fecha_pub DESC;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713232"/>
            <a:ext cx="4251960" cy="1856232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713232"/>
            <a:ext cx="502920" cy="1856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13232"/>
            <a:ext cx="5029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1A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66360" y="713232"/>
            <a:ext cx="914400" cy="256032"/>
          </a:xfrm>
          <a:prstGeom prst="rect">
            <a:avLst/>
          </a:prstGeom>
          <a:solidFill>
            <a:srgbClr val="FBBF24">
              <a:alpha val="35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7132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</a:rPr>
              <a:t>INTERMEDIA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30368" y="9692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</a:rPr>
              <a:t>Hashtags por publicación (muchos a muchos)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0368" y="1207008"/>
            <a:ext cx="3611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p.contenido,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GROUP_CONCAT(h.etiqueta) AS hashtags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publicaciones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pub_hashtags ph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p.pub_id = ph.pub_id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hashtags 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ph.hashtag_id = h.hashtag_id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p.pub_id, p.contenido;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679192"/>
            <a:ext cx="4251960" cy="1856232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679192"/>
            <a:ext cx="502920" cy="1856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679192"/>
            <a:ext cx="5029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1A"/>
                </a:solidFill>
              </a:rPr>
              <a:t>4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166360" y="2679192"/>
            <a:ext cx="914400" cy="256032"/>
          </a:xfrm>
          <a:prstGeom prst="rect">
            <a:avLst/>
          </a:prstGeom>
          <a:solidFill>
            <a:srgbClr val="FBBF24">
              <a:alpha val="35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6791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0D1A"/>
                </a:solidFill>
              </a:rPr>
              <a:t>INTERMEDIA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0368" y="2935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C"/>
                </a:solidFill>
              </a:rPr>
              <a:t>Cuántos comentarios tiene cada publicación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30368" y="3172968"/>
            <a:ext cx="3611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p.contenido,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u.username AS autor,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COUNT(c.comentario_id) AS total_comentarios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publicaciones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usuarios u ON p.usuario_id = u.usuario_id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comentarios c ON p.pub_id = c.pub_id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p.pub_id, p.contenido, u.username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total_comentarios DESC;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"/>
            <a:ext cx="1463040" cy="41148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AVANZADA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 5  —  Ranking de usuarios más activos con estadísticas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5394960" cy="4114800"/>
          </a:xfrm>
          <a:prstGeom prst="rect">
            <a:avLst/>
          </a:prstGeom>
          <a:solidFill>
            <a:srgbClr val="141428"/>
          </a:solidFill>
          <a:ln w="254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5394960" cy="32004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498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u.username,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p.pub_id)       AS publicaciones,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c.comentario_id) AS comentarios_hechos,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pl.pub_id)      AS likes_dados,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ROUND(AVG(p.likes), 1)         AS likes_prom_recibidos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usuarios 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publicaciones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u.usuario_id = p.usuario_id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comentarios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u.usuario_id = c.usuario_id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pub_likes pl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u.usuario_id = pl.usuario_id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u.usuario_id, u.username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COUNT(DISTINCT p.pub_id) &gt;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publicaciones DESC,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likes_prom_recibidos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749808"/>
            <a:ext cx="301752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749808"/>
            <a:ext cx="64008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7863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COUNT(DISTINCT ...)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80760" y="10241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contar duplicados que generan los múltiples JOINs cruzados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943600" y="1417320"/>
            <a:ext cx="301752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417320"/>
            <a:ext cx="64008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5389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</a:rPr>
              <a:t>LEFT JOIN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16916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usuarios aunque no tengan publicaciones, likes o comentarios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943600" y="2084832"/>
            <a:ext cx="301752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2084832"/>
            <a:ext cx="64008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1214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AVG(p.likes)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2359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promedio de likes recibidos en todas las publicaciones del usuario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943600" y="2752344"/>
            <a:ext cx="301752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752344"/>
            <a:ext cx="64008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788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HAVING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0760" y="30266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solo usuarios que ya han publicado al menos una vez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943600" y="3419856"/>
            <a:ext cx="301752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3419856"/>
            <a:ext cx="64008" cy="59436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4564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306C"/>
                </a:solidFill>
              </a:rPr>
              <a:t>JOIN cuádruple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36941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usuarios con publicaciones, comentarios y likes en una sola consulta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7B2FBE">
              <a:alpha val="9000"/>
            </a:srgbClr>
          </a:solidFill>
          <a:ln w="12700">
            <a:solidFill>
              <a:srgbClr val="7B2FB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1306C">
              <a:alpha val="9000"/>
            </a:srgbClr>
          </a:solidFill>
          <a:ln w="12700">
            <a:solidFill>
              <a:srgbClr val="E1306C">
                <a:alpha val="1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de la Práctica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651760" cy="1828800"/>
          </a:xfrm>
          <a:prstGeom prst="rect">
            <a:avLst/>
          </a:prstGeom>
          <a:solidFill>
            <a:srgbClr val="141428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pivote + 5 principales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651760" cy="1828800"/>
          </a:xfrm>
          <a:prstGeom prst="rect">
            <a:avLst/>
          </a:prstGeom>
          <a:solidFill>
            <a:srgbClr val="141428"/>
          </a:solidFill>
          <a:ln w="254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22960"/>
            <a:ext cx="2651760" cy="6400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14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130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Relaciones M:M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pub↔hashtags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pub↔likes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651760" cy="1828800"/>
          </a:xfrm>
          <a:prstGeom prst="rect">
            <a:avLst/>
          </a:prstGeom>
          <a:solidFill>
            <a:srgbClr val="14142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6517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14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Consultas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básicas · 2 medias · 1 avanzada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Criterios de evaluación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218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tipos de datos correctos y PRIMARY KEY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correctamente definidos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relación 1 a muchos y 1 de muchos a muchos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5 registros insertados por tabla principal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consultas ejecutan sin errores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590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avanzada usa JOIN múltiple y agregado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834640"/>
            <a:ext cx="3931920" cy="2103120"/>
          </a:xfrm>
          <a:prstGeom prst="rect">
            <a:avLst/>
          </a:prstGeom>
          <a:solidFill>
            <a:srgbClr val="14142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2834640"/>
            <a:ext cx="3931920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1A"/>
                </a:solidFill>
              </a:rPr>
              <a:t>Formato de entrega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Archivo .sql con los 3 tiempos separados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749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Comentarios explicando cada sección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74920" y="4032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Capturas de pantalla de cada consulta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4920" y="4425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Trabajo individual o en equipo de 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1306C">
              <a:alpha val="4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MySQL - Red Social</dc:title>
  <dc:subject>PptxGenJS Presentation</dc:subject>
  <dc:creator>PptxGenJS</dc:creator>
  <cp:lastModifiedBy>PptxGenJS</cp:lastModifiedBy>
  <cp:revision>1</cp:revision>
  <dcterms:created xsi:type="dcterms:W3CDTF">2026-04-14T14:25:21Z</dcterms:created>
  <dcterms:modified xsi:type="dcterms:W3CDTF">2026-04-14T14:25:21Z</dcterms:modified>
</cp:coreProperties>
</file>